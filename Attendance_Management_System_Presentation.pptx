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Attendance Management System</a:t>
            </a:r>
          </a:p>
          <a:p>
            <a:pPr algn="l">
              <a:spcBef>
                <a:spcPts val="2000"/>
              </a:spcBef>
              <a:defRPr sz="1800">
                <a:solidFill>
                  <a:srgbClr val="E2E8F0"/>
                </a:solidFill>
              </a:defRPr>
            </a:pPr>
            <a:r>
              <a:t>A Modern Fullstack Solution for Workplace Attendance &amp; Workflow Automation</a:t>
            </a:r>
          </a:p>
          <a:p>
            <a:pPr algn="l">
              <a:spcBef>
                <a:spcPts val="4000"/>
              </a:spcBef>
              <a:defRPr sz="1200">
                <a:solidFill>
                  <a:srgbClr val="A0AEC0"/>
                </a:solidFill>
              </a:defRPr>
            </a:pPr>
            <a:r>
              <a:t>Presented by: Engineering Team | Tech Stack: React + FastAPI + SQLAlchemy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A365D"/>
                </a:solidFill>
                <a:latin typeface="Arial"/>
              </a:defRPr>
            </a:pPr>
            <a:r>
              <a:t>Project Vision &amp; Key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400"/>
              </a:spcAft>
              <a:defRPr sz="1400">
                <a:solidFill>
                  <a:srgbClr val="2D3748"/>
                </a:solidFill>
                <a:latin typeface="Arial"/>
              </a:defRPr>
            </a:pPr>
            <a:r>
              <a:t>Manual Overhead Elimination: Replacing spreadsheet-based logs with real-time clock-in/clock-out tracking.</a:t>
            </a:r>
          </a:p>
          <a:p>
            <a:pPr lvl="1">
              <a:spcAft>
                <a:spcPts val="1400"/>
              </a:spcAft>
              <a:defRPr sz="1400">
                <a:solidFill>
                  <a:srgbClr val="2D3748"/>
                </a:solidFill>
                <a:latin typeface="Arial"/>
              </a:defRPr>
            </a:pPr>
            <a:r>
              <a:t>Decentralized Workflows: Employee self-service for regularization requests, query submissions, and profile viewing.</a:t>
            </a:r>
          </a:p>
          <a:p>
            <a:pPr lvl="1">
              <a:spcAft>
                <a:spcPts val="1400"/>
              </a:spcAft>
              <a:defRPr sz="1400">
                <a:solidFill>
                  <a:srgbClr val="2D3748"/>
                </a:solidFill>
                <a:latin typeface="Arial"/>
              </a:defRPr>
            </a:pPr>
            <a:r>
              <a:t>Data Integrity &amp; Audits: Restricting modifications to admins with full logging of who edited what and when.</a:t>
            </a:r>
          </a:p>
          <a:p>
            <a:pPr lvl="1">
              <a:spcAft>
                <a:spcPts val="1400"/>
              </a:spcAft>
              <a:defRPr sz="1400">
                <a:solidFill>
                  <a:srgbClr val="2D3748"/>
                </a:solidFill>
                <a:latin typeface="Arial"/>
              </a:defRPr>
            </a:pPr>
            <a:r>
              <a:t>Role-Based Partitioning: Separation of duties between Admins, Managers, and Employees.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A365D"/>
                </a:solidFill>
                <a:latin typeface="Arial"/>
              </a:defRPr>
            </a:pPr>
            <a:r>
              <a:t>High-Level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400"/>
              </a:spcAft>
              <a:defRPr sz="1400">
                <a:solidFill>
                  <a:srgbClr val="2D3748"/>
                </a:solidFill>
                <a:latin typeface="Arial"/>
              </a:defRPr>
            </a:pPr>
            <a:r>
              <a:t>Frontend SPA Layer:</a:t>
            </a:r>
          </a:p>
          <a:p>
            <a:pPr lvl="1">
              <a:spcAft>
                <a:spcPts val="1400"/>
              </a:spcAft>
              <a:defRPr sz="1400">
                <a:solidFill>
                  <a:srgbClr val="2D3748"/>
                </a:solidFill>
                <a:latin typeface="Arial"/>
              </a:defRPr>
            </a:pPr>
            <a:r>
              <a:t>Built with React 18, Vite, Material UI (MUI) components.</a:t>
            </a:r>
          </a:p>
          <a:p>
            <a:pPr lvl="1">
              <a:spcAft>
                <a:spcPts val="1400"/>
              </a:spcAft>
              <a:defRPr sz="1400">
                <a:solidFill>
                  <a:srgbClr val="2D3748"/>
                </a:solidFill>
                <a:latin typeface="Arial"/>
              </a:defRPr>
            </a:pPr>
            <a:r>
              <a:t>Styled with high-performance CSS and optimized layouts.</a:t>
            </a:r>
          </a:p>
          <a:p>
            <a:pPr lvl="1">
              <a:spcAft>
                <a:spcPts val="1400"/>
              </a:spcAft>
              <a:defRPr sz="1400">
                <a:solidFill>
                  <a:srgbClr val="2D3748"/>
                </a:solidFill>
                <a:latin typeface="Arial"/>
              </a:defRPr>
            </a:pPr>
            <a:r>
              <a:t>API Service Gateway:</a:t>
            </a:r>
          </a:p>
          <a:p>
            <a:pPr lvl="1">
              <a:spcAft>
                <a:spcPts val="1400"/>
              </a:spcAft>
              <a:defRPr sz="1400">
                <a:solidFill>
                  <a:srgbClr val="2D3748"/>
                </a:solidFill>
                <a:latin typeface="Arial"/>
              </a:defRPr>
            </a:pPr>
            <a:r>
              <a:t>Powered by FastAPI for async request handling, auto-documentation (OpenAPI), and strict routing.</a:t>
            </a:r>
          </a:p>
          <a:p>
            <a:pPr lvl="1">
              <a:spcAft>
                <a:spcPts val="1400"/>
              </a:spcAft>
              <a:defRPr sz="1400">
                <a:solidFill>
                  <a:srgbClr val="2D3748"/>
                </a:solidFill>
                <a:latin typeface="Arial"/>
              </a:defRPr>
            </a:pPr>
            <a:r>
              <a:t>Database &amp; ORM Engine:</a:t>
            </a:r>
          </a:p>
          <a:p>
            <a:pPr lvl="1">
              <a:spcAft>
                <a:spcPts val="1400"/>
              </a:spcAft>
              <a:defRPr sz="1400">
                <a:solidFill>
                  <a:srgbClr val="2D3748"/>
                </a:solidFill>
                <a:latin typeface="Arial"/>
              </a:defRPr>
            </a:pPr>
            <a:r>
              <a:t>SQLite database engine managed dynamically via SQLAlchemy ORM &amp; Alembic migrations.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A365D"/>
                </a:solidFill>
                <a:latin typeface="Arial"/>
              </a:defRPr>
            </a:pPr>
            <a:r>
              <a:t>Core Database Schema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400"/>
              </a:spcAft>
              <a:defRPr sz="1400">
                <a:solidFill>
                  <a:srgbClr val="2D3748"/>
                </a:solidFill>
                <a:latin typeface="Arial"/>
              </a:defRPr>
            </a:pPr>
            <a:r>
              <a:t>employees: Stores personal profiles, contact numbers, departments, and designations.</a:t>
            </a:r>
          </a:p>
          <a:p>
            <a:pPr lvl="1">
              <a:spcAft>
                <a:spcPts val="1400"/>
              </a:spcAft>
              <a:defRPr sz="1400">
                <a:solidFill>
                  <a:srgbClr val="2D3748"/>
                </a:solidFill>
                <a:latin typeface="Arial"/>
              </a:defRPr>
            </a:pPr>
            <a:r>
              <a:t>users: Manages logins, credentials (hashed), roles, and links to employee profiles.</a:t>
            </a:r>
          </a:p>
          <a:p>
            <a:pPr lvl="1">
              <a:spcAft>
                <a:spcPts val="1400"/>
              </a:spcAft>
              <a:defRPr sz="1400">
                <a:solidFill>
                  <a:srgbClr val="2D3748"/>
                </a:solidFill>
                <a:latin typeface="Arial"/>
              </a:defRPr>
            </a:pPr>
            <a:r>
              <a:t>attendance: Tracks check-in/out timestamps, date, status (Present/Absent/Late), notes, and regularization flags.</a:t>
            </a:r>
          </a:p>
          <a:p>
            <a:pPr lvl="1">
              <a:spcAft>
                <a:spcPts val="1400"/>
              </a:spcAft>
              <a:defRPr sz="1400">
                <a:solidFill>
                  <a:srgbClr val="2D3748"/>
                </a:solidFill>
                <a:latin typeface="Arial"/>
              </a:defRPr>
            </a:pPr>
            <a:r>
              <a:t>attendance_requests: Manages correction/regularization workflows, approval statuses, and review timestamps.</a:t>
            </a:r>
          </a:p>
          <a:p>
            <a:pPr lvl="1">
              <a:spcAft>
                <a:spcPts val="1400"/>
              </a:spcAft>
              <a:defRPr sz="1400">
                <a:solidFill>
                  <a:srgbClr val="2D3748"/>
                </a:solidFill>
                <a:latin typeface="Arial"/>
              </a:defRPr>
            </a:pPr>
            <a:r>
              <a:t>employee_queries: Support ticket system handling inquiries, statuses, and updates.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A365D"/>
                </a:solidFill>
                <a:latin typeface="Arial"/>
              </a:defRPr>
            </a:pPr>
            <a:r>
              <a:t>Core Feature 1: Employee Self-Service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400"/>
              </a:spcAft>
              <a:defRPr sz="1400">
                <a:solidFill>
                  <a:srgbClr val="2D3748"/>
                </a:solidFill>
                <a:latin typeface="Arial"/>
              </a:defRPr>
            </a:pPr>
            <a:r>
              <a:t>Live Check-In / Check-Out: Standardized clocking functionality capturing exact times.</a:t>
            </a:r>
          </a:p>
          <a:p>
            <a:pPr lvl="1">
              <a:spcAft>
                <a:spcPts val="1400"/>
              </a:spcAft>
              <a:defRPr sz="1400">
                <a:solidFill>
                  <a:srgbClr val="2D3748"/>
                </a:solidFill>
                <a:latin typeface="Arial"/>
              </a:defRPr>
            </a:pPr>
            <a:r>
              <a:t>Smart Status Indicators: Automatically flags attendance status (e.g. 'Late' or 'Present') based on shift timings.</a:t>
            </a:r>
          </a:p>
          <a:p>
            <a:pPr lvl="1">
              <a:spcAft>
                <a:spcPts val="1400"/>
              </a:spcAft>
              <a:defRPr sz="1400">
                <a:solidFill>
                  <a:srgbClr val="2D3748"/>
                </a:solidFill>
                <a:latin typeface="Arial"/>
              </a:defRPr>
            </a:pPr>
            <a:r>
              <a:t>Personal Attendance History: Intuitive dashboard displaying personal history logs with search filters.</a:t>
            </a:r>
          </a:p>
          <a:p>
            <a:pPr lvl="1">
              <a:spcAft>
                <a:spcPts val="1400"/>
              </a:spcAft>
              <a:defRPr sz="1400">
                <a:solidFill>
                  <a:srgbClr val="2D3748"/>
                </a:solidFill>
                <a:latin typeface="Arial"/>
              </a:defRPr>
            </a:pPr>
            <a:r>
              <a:t>Query Portal: Submitting support requests directly to admins regarding payroll or logging discrepancies.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A365D"/>
                </a:solidFill>
                <a:latin typeface="Arial"/>
              </a:defRPr>
            </a:pPr>
            <a:r>
              <a:t>Core Feature 2: Administrative Console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400"/>
              </a:spcAft>
              <a:defRPr sz="1400">
                <a:solidFill>
                  <a:srgbClr val="2D3748"/>
                </a:solidFill>
                <a:latin typeface="Arial"/>
              </a:defRPr>
            </a:pPr>
            <a:r>
              <a:t>Live Operations Feed: Real-time visibility of today's attendance (Present count, Late, Absent, Half-Day).</a:t>
            </a:r>
          </a:p>
          <a:p>
            <a:pPr lvl="1">
              <a:spcAft>
                <a:spcPts val="1400"/>
              </a:spcAft>
              <a:defRPr sz="1400">
                <a:solidFill>
                  <a:srgbClr val="2D3748"/>
                </a:solidFill>
                <a:latin typeface="Arial"/>
              </a:defRPr>
            </a:pPr>
            <a:r>
              <a:t>Department Statistics: Interactive breakdown of employee counts and performance metrics per department.</a:t>
            </a:r>
          </a:p>
          <a:p>
            <a:pPr lvl="1">
              <a:spcAft>
                <a:spcPts val="1400"/>
              </a:spcAft>
              <a:defRPr sz="1400">
                <a:solidFill>
                  <a:srgbClr val="2D3748"/>
                </a:solidFill>
                <a:latin typeface="Arial"/>
              </a:defRPr>
            </a:pPr>
            <a:r>
              <a:t>Active Directory Management: Add, update, and change roles or toggle active/inactive status of users.</a:t>
            </a:r>
          </a:p>
          <a:p>
            <a:pPr lvl="1">
              <a:spcAft>
                <a:spcPts val="1400"/>
              </a:spcAft>
              <a:defRPr sz="1400">
                <a:solidFill>
                  <a:srgbClr val="2D3748"/>
                </a:solidFill>
                <a:latin typeface="Arial"/>
              </a:defRPr>
            </a:pPr>
            <a:r>
              <a:t>Report Generation: Direct CSV download of attendance data filtered by date ranges and department.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A365D"/>
                </a:solidFill>
                <a:latin typeface="Arial"/>
              </a:defRPr>
            </a:pPr>
            <a:r>
              <a:t>Core Feature 3: Request Regularization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400"/>
              </a:spcAft>
              <a:defRPr sz="1400">
                <a:solidFill>
                  <a:srgbClr val="2D3748"/>
                </a:solidFill>
                <a:latin typeface="Arial"/>
              </a:defRPr>
            </a:pPr>
            <a:r>
              <a:t>The Problem: Employees forget to check out or work off-site, resulting in logging discrepancies.</a:t>
            </a:r>
          </a:p>
          <a:p>
            <a:pPr lvl="1">
              <a:spcAft>
                <a:spcPts val="1400"/>
              </a:spcAft>
              <a:defRPr sz="1400">
                <a:solidFill>
                  <a:srgbClr val="2D3748"/>
                </a:solidFill>
                <a:latin typeface="Arial"/>
              </a:defRPr>
            </a:pPr>
            <a:r>
              <a:t>The Solution: A structured regularization flow:</a:t>
            </a:r>
          </a:p>
          <a:p>
            <a:pPr lvl="1">
              <a:spcAft>
                <a:spcPts val="1400"/>
              </a:spcAft>
              <a:defRPr sz="1400">
                <a:solidFill>
                  <a:srgbClr val="2D3748"/>
                </a:solidFill>
                <a:latin typeface="Arial"/>
              </a:defRPr>
            </a:pPr>
            <a:r>
              <a:t>Employee initiates a request detailing date, request type, and reasoning.</a:t>
            </a:r>
          </a:p>
          <a:p>
            <a:pPr lvl="1">
              <a:spcAft>
                <a:spcPts val="1400"/>
              </a:spcAft>
              <a:defRPr sz="1400">
                <a:solidFill>
                  <a:srgbClr val="2D3748"/>
                </a:solidFill>
                <a:latin typeface="Arial"/>
              </a:defRPr>
            </a:pPr>
            <a:r>
              <a:t>Admins review pending requests and approve/reject with custom admin notes.</a:t>
            </a:r>
          </a:p>
          <a:p>
            <a:pPr lvl="1">
              <a:spcAft>
                <a:spcPts val="1400"/>
              </a:spcAft>
              <a:defRPr sz="1400">
                <a:solidFill>
                  <a:srgbClr val="2D3748"/>
                </a:solidFill>
                <a:latin typeface="Arial"/>
              </a:defRPr>
            </a:pPr>
            <a:r>
              <a:t>On approval, system marks record as regularized (is_regularized = 'Y') to ensure audit compliance.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A365D"/>
                </a:solidFill>
                <a:latin typeface="Arial"/>
              </a:defRPr>
            </a:pPr>
            <a:r>
              <a:t>Role-Based Access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400"/>
              </a:spcAft>
              <a:defRPr sz="1400">
                <a:solidFill>
                  <a:srgbClr val="2D3748"/>
                </a:solidFill>
                <a:latin typeface="Arial"/>
              </a:defRPr>
            </a:pPr>
            <a:r>
              <a:t>Admin Role: Full read/write access to employee logs, approves requests, manages users/roles, exports CSV reports.</a:t>
            </a:r>
          </a:p>
          <a:p>
            <a:pPr lvl="1">
              <a:spcAft>
                <a:spcPts val="1400"/>
              </a:spcAft>
              <a:defRPr sz="1400">
                <a:solidFill>
                  <a:srgbClr val="2D3748"/>
                </a:solidFill>
                <a:latin typeface="Arial"/>
              </a:defRPr>
            </a:pPr>
            <a:r>
              <a:t>Manager Role: Read-only access to department summaries, submits requests on behalf of team members.</a:t>
            </a:r>
          </a:p>
          <a:p>
            <a:pPr lvl="1">
              <a:spcAft>
                <a:spcPts val="1400"/>
              </a:spcAft>
              <a:defRPr sz="1400">
                <a:solidFill>
                  <a:srgbClr val="2D3748"/>
                </a:solidFill>
                <a:latin typeface="Arial"/>
              </a:defRPr>
            </a:pPr>
            <a:r>
              <a:t>Employee Role: Only view and mark personal attendance, submit requests, and raise queries.</a:t>
            </a:r>
          </a:p>
          <a:p>
            <a:pPr lvl="1">
              <a:spcAft>
                <a:spcPts val="1400"/>
              </a:spcAft>
              <a:defRPr sz="1400">
                <a:solidFill>
                  <a:srgbClr val="2D3748"/>
                </a:solidFill>
                <a:latin typeface="Arial"/>
              </a:defRPr>
            </a:pPr>
            <a:r>
              <a:t>Server-Side Guards: JWT validation and role validation middlewares protect all endpoints.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A365D"/>
                </a:solidFill>
                <a:latin typeface="Arial"/>
              </a:defRPr>
            </a:pPr>
            <a:r>
              <a:t>Technical &amp; Codebase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400"/>
              </a:spcAft>
              <a:defRPr sz="1400">
                <a:solidFill>
                  <a:srgbClr val="2D3748"/>
                </a:solidFill>
                <a:latin typeface="Arial"/>
              </a:defRPr>
            </a:pPr>
            <a:r>
              <a:t>API Middleware: Handles authentication, CORS, and DB session generation per request.</a:t>
            </a:r>
          </a:p>
          <a:p>
            <a:pPr lvl="1">
              <a:spcAft>
                <a:spcPts val="1400"/>
              </a:spcAft>
              <a:defRPr sz="1400">
                <a:solidFill>
                  <a:srgbClr val="2D3748"/>
                </a:solidFill>
                <a:latin typeface="Arial"/>
              </a:defRPr>
            </a:pPr>
            <a:r>
              <a:t>DB Transactions: Atomic commits using SQLAlchemy context managers.</a:t>
            </a:r>
          </a:p>
          <a:p>
            <a:pPr lvl="1">
              <a:spcAft>
                <a:spcPts val="1400"/>
              </a:spcAft>
              <a:defRPr sz="1400">
                <a:solidFill>
                  <a:srgbClr val="2D3748"/>
                </a:solidFill>
                <a:latin typeface="Arial"/>
              </a:defRPr>
            </a:pPr>
            <a:r>
              <a:t>React Hooks Pattern: Centralized API services with async callback hooks (e.g. useCallback).</a:t>
            </a:r>
          </a:p>
          <a:p>
            <a:pPr lvl="1">
              <a:spcAft>
                <a:spcPts val="1400"/>
              </a:spcAft>
              <a:defRPr sz="1400">
                <a:solidFill>
                  <a:srgbClr val="2D3748"/>
                </a:solidFill>
                <a:latin typeface="Arial"/>
              </a:defRPr>
            </a:pPr>
            <a:r>
              <a:t>Responsive UI: Grid-based scaling that works smoothly across mobile, tablet, and desktop layouts.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A365D"/>
                </a:solidFill>
                <a:latin typeface="Arial"/>
              </a:defRPr>
            </a:pPr>
            <a:r>
              <a:t>Summary &amp; Future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400"/>
              </a:spcAft>
              <a:defRPr sz="1400">
                <a:solidFill>
                  <a:srgbClr val="2D3748"/>
                </a:solidFill>
                <a:latin typeface="Arial"/>
              </a:defRPr>
            </a:pPr>
            <a:r>
              <a:t>Current State: Fully functional, secure, responsive, and auditable system ready for deployment.</a:t>
            </a:r>
          </a:p>
          <a:p>
            <a:pPr lvl="1">
              <a:spcAft>
                <a:spcPts val="1400"/>
              </a:spcAft>
              <a:defRPr sz="1400">
                <a:solidFill>
                  <a:srgbClr val="2D3748"/>
                </a:solidFill>
                <a:latin typeface="Arial"/>
              </a:defRPr>
            </a:pPr>
            <a:r>
              <a:t>Immediate Benefits: 100% digital tracking, minimized human error, real-time analytics.</a:t>
            </a:r>
          </a:p>
          <a:p>
            <a:pPr lvl="1">
              <a:spcAft>
                <a:spcPts val="1400"/>
              </a:spcAft>
              <a:defRPr sz="1400">
                <a:solidFill>
                  <a:srgbClr val="2D3748"/>
                </a:solidFill>
                <a:latin typeface="Arial"/>
              </a:defRPr>
            </a:pPr>
            <a:r>
              <a:t>Future Enhancements:</a:t>
            </a:r>
          </a:p>
          <a:p>
            <a:pPr lvl="1">
              <a:spcAft>
                <a:spcPts val="1400"/>
              </a:spcAft>
              <a:defRPr sz="1400">
                <a:solidFill>
                  <a:srgbClr val="2D3748"/>
                </a:solidFill>
                <a:latin typeface="Arial"/>
              </a:defRPr>
            </a:pPr>
            <a:r>
              <a:t>Geofencing &amp; Biometrics: Restrict check-in coordinates or integrate with facial/fingerprint scanner hardware.</a:t>
            </a:r>
          </a:p>
          <a:p>
            <a:pPr lvl="1">
              <a:spcAft>
                <a:spcPts val="1400"/>
              </a:spcAft>
              <a:defRPr sz="1400">
                <a:solidFill>
                  <a:srgbClr val="2D3748"/>
                </a:solidFill>
                <a:latin typeface="Arial"/>
              </a:defRPr>
            </a:pPr>
            <a:r>
              <a:t>Automatic Shift Scheduling: Dynamic night/day shift support.</a:t>
            </a:r>
          </a:p>
          <a:p>
            <a:pPr lvl="1">
              <a:spcAft>
                <a:spcPts val="1400"/>
              </a:spcAft>
              <a:defRPr sz="1400">
                <a:solidFill>
                  <a:srgbClr val="2D3748"/>
                </a:solidFill>
                <a:latin typeface="Arial"/>
              </a:defRPr>
            </a:pPr>
            <a:r>
              <a:t>Communication integrations: Instant Slack/MS Teams notifications for managers and admins.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